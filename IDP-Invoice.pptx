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48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419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953A0-DB0E-DF5C-9AF5-84201DE52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606A5-1B82-24DB-B252-150B99543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D784D-EFCB-95E9-9C08-EC3F8A475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B691E-BCC8-8E92-3921-EBC51C606C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74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92ABF-1BF2-CA37-0CEF-55EEB26F8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580FF6-5B39-A291-7399-618D7FE97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DF1F49-2EB5-B6A2-0FAC-F454E6A5F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78966-F7CB-8CF0-8733-27E88927D6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16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1097280"/>
            <a:ext cx="3200400" cy="32004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548640"/>
            <a:ext cx="2011680" cy="201168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IDP-Invoice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Document Processing for Invoices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Automate. Validate. Deliver.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C8C47F-5458-8931-6183-6612860B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33169EA7-24F1-8B8D-D0C4-8767E30DEF2C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23C6878B-6DE7-4F0E-D304-81AE81D9124C}"/>
              </a:ext>
            </a:extLst>
          </p:cNvPr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D87D9C30-A503-08AA-C9A9-42D677F4DBDE}"/>
              </a:ext>
            </a:extLst>
          </p:cNvPr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978BC6EE-F7D8-510A-0424-40E48EC614FB}"/>
              </a:ext>
            </a:extLst>
          </p:cNvPr>
          <p:cNvSpPr/>
          <p:nvPr/>
        </p:nvSpPr>
        <p:spPr>
          <a:xfrm>
            <a:off x="274320" y="1143000"/>
            <a:ext cx="3931920" cy="37490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18DAF710-8BFC-FDE8-2533-B8066933F748}"/>
              </a:ext>
            </a:extLst>
          </p:cNvPr>
          <p:cNvSpPr/>
          <p:nvPr/>
        </p:nvSpPr>
        <p:spPr>
          <a:xfrm>
            <a:off x="274320" y="1143000"/>
            <a:ext cx="3931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AF741B74-60BB-6BCF-3EEE-389065F90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61872"/>
            <a:ext cx="475488" cy="475488"/>
          </a:xfrm>
          <a:prstGeom prst="rect">
            <a:avLst/>
          </a:prstGeom>
        </p:spPr>
      </p:pic>
      <p:sp>
        <p:nvSpPr>
          <p:cNvPr id="16" name="Text 5">
            <a:extLst>
              <a:ext uri="{FF2B5EF4-FFF2-40B4-BE49-F238E27FC236}">
                <a16:creationId xmlns:a16="http://schemas.microsoft.com/office/drawing/2014/main" id="{81D39DEA-3CEC-B045-34D7-06D40D2FA1C6}"/>
              </a:ext>
            </a:extLst>
          </p:cNvPr>
          <p:cNvSpPr/>
          <p:nvPr/>
        </p:nvSpPr>
        <p:spPr>
          <a:xfrm>
            <a:off x="1078992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IDP-Invoice?</a:t>
            </a:r>
            <a:endParaRPr lang="en-US" sz="15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CF9BD7B2-BB7E-0841-88A1-662B2D8CD85E}"/>
              </a:ext>
            </a:extLst>
          </p:cNvPr>
          <p:cNvSpPr/>
          <p:nvPr/>
        </p:nvSpPr>
        <p:spPr>
          <a:xfrm>
            <a:off x="438912" y="1819656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IDP-Invoice stands for Intelligent Document Processing — Invoice. It is a fully automated system designed to replace the slow, error-prone process of manually handling invoices in a business.</a:t>
            </a:r>
            <a:endParaRPr lang="en-US" sz="115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6224476D-CBC5-BC5B-C17C-6BD4DD4C0764}"/>
              </a:ext>
            </a:extLst>
          </p:cNvPr>
          <p:cNvSpPr/>
          <p:nvPr/>
        </p:nvSpPr>
        <p:spPr>
          <a:xfrm>
            <a:off x="438912" y="2578608"/>
            <a:ext cx="3611880" cy="27432"/>
          </a:xfrm>
          <a:prstGeom prst="rect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104F4F4B-F48A-453D-96B5-7887BCBAF877}"/>
              </a:ext>
            </a:extLst>
          </p:cNvPr>
          <p:cNvSpPr/>
          <p:nvPr/>
        </p:nvSpPr>
        <p:spPr>
          <a:xfrm>
            <a:off x="438912" y="26517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it for?</a:t>
            </a:r>
            <a:endParaRPr lang="en-US" sz="13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CB2EA884-5AEC-40C2-FC53-0FDD175573DA}"/>
              </a:ext>
            </a:extLst>
          </p:cNvPr>
          <p:cNvSpPr/>
          <p:nvPr/>
        </p:nvSpPr>
        <p:spPr>
          <a:xfrm>
            <a:off x="438912" y="2944368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accounts payable teams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handling large invoice volumes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seeking audit-ready records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replacing manual data entry</a:t>
            </a:r>
            <a:endParaRPr lang="en-US" sz="11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A2F14CC6-AEB0-D487-2348-0CC02E988BA9}"/>
              </a:ext>
            </a:extLst>
          </p:cNvPr>
          <p:cNvSpPr/>
          <p:nvPr/>
        </p:nvSpPr>
        <p:spPr>
          <a:xfrm>
            <a:off x="4663440" y="1143000"/>
            <a:ext cx="420624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E63946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793DEA68-4501-DD4D-CAB5-658D3CA31D54}"/>
              </a:ext>
            </a:extLst>
          </p:cNvPr>
          <p:cNvSpPr/>
          <p:nvPr/>
        </p:nvSpPr>
        <p:spPr>
          <a:xfrm>
            <a:off x="4663440" y="1143000"/>
            <a:ext cx="420624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7C53299E-7A1C-D60D-E7AA-3A58166C6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261872"/>
            <a:ext cx="384048" cy="384048"/>
          </a:xfrm>
          <a:prstGeom prst="rect">
            <a:avLst/>
          </a:prstGeom>
        </p:spPr>
      </p:pic>
      <p:sp>
        <p:nvSpPr>
          <p:cNvPr id="24" name="Text 12">
            <a:extLst>
              <a:ext uri="{FF2B5EF4-FFF2-40B4-BE49-F238E27FC236}">
                <a16:creationId xmlns:a16="http://schemas.microsoft.com/office/drawing/2014/main" id="{ADE194FF-A02E-BD9A-BFC1-F3F73CB8FB86}"/>
              </a:ext>
            </a:extLst>
          </p:cNvPr>
          <p:cNvSpPr/>
          <p:nvPr/>
        </p:nvSpPr>
        <p:spPr>
          <a:xfrm>
            <a:off x="530352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3E97B245-B0E6-FFAD-63A7-135332B86825}"/>
              </a:ext>
            </a:extLst>
          </p:cNvPr>
          <p:cNvSpPr/>
          <p:nvPr/>
        </p:nvSpPr>
        <p:spPr>
          <a:xfrm>
            <a:off x="4773168" y="168249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receive hundreds of invoices daily. Manual entry is slow, costly, and prone to human errors — leading to payment delays, incorrect records, and compliance risks.</a:t>
            </a:r>
            <a:endParaRPr lang="en-US" sz="11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0F87A478-4B2C-1343-7A5D-1C5AB55D85A8}"/>
              </a:ext>
            </a:extLst>
          </p:cNvPr>
          <p:cNvSpPr/>
          <p:nvPr/>
        </p:nvSpPr>
        <p:spPr>
          <a:xfrm>
            <a:off x="4663440" y="2944368"/>
            <a:ext cx="4206240" cy="1947672"/>
          </a:xfrm>
          <a:prstGeom prst="rect">
            <a:avLst/>
          </a:prstGeom>
          <a:solidFill>
            <a:srgbClr val="162032"/>
          </a:solidFill>
          <a:ln w="12700">
            <a:solidFill>
              <a:srgbClr val="2DC653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C7D197EA-DFAE-9728-8A1E-CF0591F8EBCA}"/>
              </a:ext>
            </a:extLst>
          </p:cNvPr>
          <p:cNvSpPr/>
          <p:nvPr/>
        </p:nvSpPr>
        <p:spPr>
          <a:xfrm>
            <a:off x="4663440" y="2944368"/>
            <a:ext cx="4206240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32F74192-2617-810B-278C-026EAC3D9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063240"/>
            <a:ext cx="384048" cy="384048"/>
          </a:xfrm>
          <a:prstGeom prst="rect">
            <a:avLst/>
          </a:prstGeom>
        </p:spPr>
      </p:pic>
      <p:sp>
        <p:nvSpPr>
          <p:cNvPr id="29" name="Text 16">
            <a:extLst>
              <a:ext uri="{FF2B5EF4-FFF2-40B4-BE49-F238E27FC236}">
                <a16:creationId xmlns:a16="http://schemas.microsoft.com/office/drawing/2014/main" id="{A5219960-FD0C-AA21-D0D6-337F08FD1704}"/>
              </a:ext>
            </a:extLst>
          </p:cNvPr>
          <p:cNvSpPr/>
          <p:nvPr/>
        </p:nvSpPr>
        <p:spPr>
          <a:xfrm>
            <a:off x="5303520" y="3081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405F4675-E896-205F-C4A2-FAD59930A98B}"/>
              </a:ext>
            </a:extLst>
          </p:cNvPr>
          <p:cNvSpPr/>
          <p:nvPr/>
        </p:nvSpPr>
        <p:spPr>
          <a:xfrm>
            <a:off x="4773168" y="3456432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reads invoice images &amp; PDFs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quality, deblurs poor-quality scans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&amp; organizes data via OCR + AI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totals &amp; flags anomalies instantly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clean data &amp; delivers on demand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90892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4CDB1-51DB-2507-11AF-7EB1342CE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D53F71-80D6-C04A-B773-720BECC143BF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8F8963-8DE1-3D8F-B31E-C8D62FC9AB3D}"/>
              </a:ext>
            </a:extLst>
          </p:cNvPr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746036-0D34-9947-E242-467AD1BFC714}"/>
              </a:ext>
            </a:extLst>
          </p:cNvPr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Overview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3759E8-5E2D-570C-DBE0-B6AE83200BDF}"/>
              </a:ext>
            </a:extLst>
          </p:cNvPr>
          <p:cNvSpPr/>
          <p:nvPr/>
        </p:nvSpPr>
        <p:spPr>
          <a:xfrm>
            <a:off x="365760" y="11155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IDP-Invoice is an end-to-end Intelligent Document Processing system that automates invoice ingestion, extraction, validation, and delivery.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70EEB37-C182-8EA4-A9FF-CA4F22B95673}"/>
              </a:ext>
            </a:extLst>
          </p:cNvPr>
          <p:cNvSpPr/>
          <p:nvPr/>
        </p:nvSpPr>
        <p:spPr>
          <a:xfrm>
            <a:off x="228600" y="1691640"/>
            <a:ext cx="2788920" cy="32461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38780DE-B804-728A-5E09-1E85DE43F08E}"/>
              </a:ext>
            </a:extLst>
          </p:cNvPr>
          <p:cNvSpPr/>
          <p:nvPr/>
        </p:nvSpPr>
        <p:spPr>
          <a:xfrm>
            <a:off x="228600" y="1691640"/>
            <a:ext cx="2788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282C069-1232-5220-CA76-6E3E2CE5D898}"/>
              </a:ext>
            </a:extLst>
          </p:cNvPr>
          <p:cNvSpPr/>
          <p:nvPr/>
        </p:nvSpPr>
        <p:spPr>
          <a:xfrm>
            <a:off x="1275588" y="1810512"/>
            <a:ext cx="694944" cy="69494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3DCE01F6-CA57-7DA2-52C9-C92F4E764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1892808"/>
            <a:ext cx="457200" cy="457200"/>
          </a:xfrm>
          <a:prstGeom prst="rect">
            <a:avLst/>
          </a:prstGeom>
        </p:spPr>
      </p:pic>
      <p:sp>
        <p:nvSpPr>
          <p:cNvPr id="31" name="Text 7">
            <a:extLst>
              <a:ext uri="{FF2B5EF4-FFF2-40B4-BE49-F238E27FC236}">
                <a16:creationId xmlns:a16="http://schemas.microsoft.com/office/drawing/2014/main" id="{BC648F19-DBAA-7A05-A31C-020235731A5B}"/>
              </a:ext>
            </a:extLst>
          </p:cNvPr>
          <p:cNvSpPr/>
          <p:nvPr/>
        </p:nvSpPr>
        <p:spPr>
          <a:xfrm>
            <a:off x="320040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FFEEC8DF-5C6A-D04A-BF03-82F6B9BE879A}"/>
              </a:ext>
            </a:extLst>
          </p:cNvPr>
          <p:cNvSpPr/>
          <p:nvPr/>
        </p:nvSpPr>
        <p:spPr>
          <a:xfrm>
            <a:off x="365760" y="2971800"/>
            <a:ext cx="2514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invoice processing pipeline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image &amp; PDF invoice formats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OCR, AI models &amp; validation logic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high-volume business environments</a:t>
            </a:r>
            <a:endParaRPr lang="en-US" sz="105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DA6B5839-70D6-6EC5-4E4E-87F9F1AEF15B}"/>
              </a:ext>
            </a:extLst>
          </p:cNvPr>
          <p:cNvSpPr/>
          <p:nvPr/>
        </p:nvSpPr>
        <p:spPr>
          <a:xfrm>
            <a:off x="3172968" y="1691640"/>
            <a:ext cx="2788920" cy="3246120"/>
          </a:xfrm>
          <a:prstGeom prst="rect">
            <a:avLst/>
          </a:prstGeom>
          <a:solidFill>
            <a:srgbClr val="162032"/>
          </a:solidFill>
          <a:ln w="12700">
            <a:solidFill>
              <a:srgbClr val="2DC653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B7EB275E-8ADA-E368-4481-DACC48E049D8}"/>
              </a:ext>
            </a:extLst>
          </p:cNvPr>
          <p:cNvSpPr/>
          <p:nvPr/>
        </p:nvSpPr>
        <p:spPr>
          <a:xfrm>
            <a:off x="3172968" y="1691640"/>
            <a:ext cx="2788920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2A5A38D7-EA43-F92F-283A-BE1330210C66}"/>
              </a:ext>
            </a:extLst>
          </p:cNvPr>
          <p:cNvSpPr/>
          <p:nvPr/>
        </p:nvSpPr>
        <p:spPr>
          <a:xfrm>
            <a:off x="4219956" y="1810512"/>
            <a:ext cx="694944" cy="69494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2DC653">
                <a:alpha val="70000"/>
              </a:srgbClr>
            </a:solidFill>
            <a:prstDash val="solid"/>
          </a:ln>
        </p:spPr>
      </p:sp>
      <p:pic>
        <p:nvPicPr>
          <p:cNvPr id="36" name="Image 1" descr="preencoded.png">
            <a:extLst>
              <a:ext uri="{FF2B5EF4-FFF2-40B4-BE49-F238E27FC236}">
                <a16:creationId xmlns:a16="http://schemas.microsoft.com/office/drawing/2014/main" id="{07E257BF-F129-D487-63FB-DA1D8AE3C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828" y="1892808"/>
            <a:ext cx="457200" cy="457200"/>
          </a:xfrm>
          <a:prstGeom prst="rect">
            <a:avLst/>
          </a:prstGeom>
        </p:spPr>
      </p:pic>
      <p:sp>
        <p:nvSpPr>
          <p:cNvPr id="37" name="Text 12">
            <a:extLst>
              <a:ext uri="{FF2B5EF4-FFF2-40B4-BE49-F238E27FC236}">
                <a16:creationId xmlns:a16="http://schemas.microsoft.com/office/drawing/2014/main" id="{989565D6-BEB5-12DE-836C-5ED47CC162FC}"/>
              </a:ext>
            </a:extLst>
          </p:cNvPr>
          <p:cNvSpPr/>
          <p:nvPr/>
        </p:nvSpPr>
        <p:spPr>
          <a:xfrm>
            <a:off x="3264408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182A8D7F-249A-F6F9-FCA9-61AAE549E05F}"/>
              </a:ext>
            </a:extLst>
          </p:cNvPr>
          <p:cNvSpPr/>
          <p:nvPr/>
        </p:nvSpPr>
        <p:spPr>
          <a:xfrm>
            <a:off x="3310128" y="2971800"/>
            <a:ext cx="2514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&amp; extracts invoice data automatically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file quality &amp; pre-processes if needed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totals and checks for invoice numbers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anomalies for human or error review</a:t>
            </a:r>
            <a:endParaRPr lang="en-US" sz="1050" dirty="0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B5DE3EC5-C7AC-C669-2685-F123C92FDDEE}"/>
              </a:ext>
            </a:extLst>
          </p:cNvPr>
          <p:cNvSpPr/>
          <p:nvPr/>
        </p:nvSpPr>
        <p:spPr>
          <a:xfrm>
            <a:off x="6117336" y="1691640"/>
            <a:ext cx="2788920" cy="3246120"/>
          </a:xfrm>
          <a:prstGeom prst="rect">
            <a:avLst/>
          </a:prstGeom>
          <a:solidFill>
            <a:srgbClr val="162032"/>
          </a:solidFill>
          <a:ln w="12700">
            <a:solidFill>
              <a:srgbClr val="F9844A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858B3DDA-BC42-095D-C2A4-A68CAE652F3D}"/>
              </a:ext>
            </a:extLst>
          </p:cNvPr>
          <p:cNvSpPr/>
          <p:nvPr/>
        </p:nvSpPr>
        <p:spPr>
          <a:xfrm>
            <a:off x="6117336" y="1691640"/>
            <a:ext cx="2788920" cy="54864"/>
          </a:xfrm>
          <a:prstGeom prst="rect">
            <a:avLst/>
          </a:prstGeom>
          <a:solidFill>
            <a:srgbClr val="F9844A"/>
          </a:solidFill>
          <a:ln w="12700">
            <a:solidFill>
              <a:srgbClr val="F9844A"/>
            </a:solidFill>
            <a:prstDash val="solid"/>
          </a:ln>
        </p:spPr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E573C76D-580B-C0D7-93ED-AF6EDC799F45}"/>
              </a:ext>
            </a:extLst>
          </p:cNvPr>
          <p:cNvSpPr/>
          <p:nvPr/>
        </p:nvSpPr>
        <p:spPr>
          <a:xfrm>
            <a:off x="7164324" y="1810512"/>
            <a:ext cx="694944" cy="69494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F9844A">
                <a:alpha val="70000"/>
              </a:srgbClr>
            </a:solidFill>
            <a:prstDash val="solid"/>
          </a:ln>
        </p:spPr>
      </p:sp>
      <p:pic>
        <p:nvPicPr>
          <p:cNvPr id="42" name="Image 2" descr="preencoded.png">
            <a:extLst>
              <a:ext uri="{FF2B5EF4-FFF2-40B4-BE49-F238E27FC236}">
                <a16:creationId xmlns:a16="http://schemas.microsoft.com/office/drawing/2014/main" id="{1CF644D5-A6B6-38B7-C9C7-6ADF25496A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3196" y="1892808"/>
            <a:ext cx="457200" cy="457200"/>
          </a:xfrm>
          <a:prstGeom prst="rect">
            <a:avLst/>
          </a:prstGeom>
        </p:spPr>
      </p:pic>
      <p:sp>
        <p:nvSpPr>
          <p:cNvPr id="43" name="Text 17">
            <a:extLst>
              <a:ext uri="{FF2B5EF4-FFF2-40B4-BE49-F238E27FC236}">
                <a16:creationId xmlns:a16="http://schemas.microsoft.com/office/drawing/2014/main" id="{CF0D68D2-387D-2D3D-B102-F8EE32698CAC}"/>
              </a:ext>
            </a:extLst>
          </p:cNvPr>
          <p:cNvSpPr/>
          <p:nvPr/>
        </p:nvSpPr>
        <p:spPr>
          <a:xfrm>
            <a:off x="6208776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8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400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25EF9155-6477-2763-91A8-3621D5217100}"/>
              </a:ext>
            </a:extLst>
          </p:cNvPr>
          <p:cNvSpPr/>
          <p:nvPr/>
        </p:nvSpPr>
        <p:spPr>
          <a:xfrm>
            <a:off x="6254496" y="2971800"/>
            <a:ext cx="2514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validated invoice data in database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 with automated cross-checks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reduction in manual effort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delivery of processed records</a:t>
            </a:r>
            <a:endParaRPr lang="en-US" sz="1050" dirty="0"/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90F68DF1-C29E-1BEE-2B83-F1D813852487}"/>
              </a:ext>
            </a:extLst>
          </p:cNvPr>
          <p:cNvSpPr/>
          <p:nvPr/>
        </p:nvSpPr>
        <p:spPr>
          <a:xfrm>
            <a:off x="228600" y="4983480"/>
            <a:ext cx="8686800" cy="45720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FF511390-3956-B707-0C95-F6BC65839F85}"/>
              </a:ext>
            </a:extLst>
          </p:cNvPr>
          <p:cNvSpPr/>
          <p:nvPr/>
        </p:nvSpPr>
        <p:spPr>
          <a:xfrm>
            <a:off x="4914900" y="472516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92412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IDP-Invoice?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8892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88920" cy="54864"/>
          </a:xfrm>
          <a:prstGeom prst="rect">
            <a:avLst/>
          </a:prstGeom>
          <a:solidFill>
            <a:srgbClr val="F9844A"/>
          </a:solidFill>
          <a:ln w="12700">
            <a:solidFill>
              <a:srgbClr val="F984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685800" cy="685800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7276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286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Overload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" y="274320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volumes of invoices ranging from hundreds to thousands each day make manual processing impractical for modern businesses to keep up with.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0" y="1234440"/>
            <a:ext cx="278892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234440"/>
            <a:ext cx="278892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1463040"/>
            <a:ext cx="685800" cy="685800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57276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286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Effort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337560" y="274320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entering and storing invoice data is slow, tedious, and consumes significant employee hours that could be better spent.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1234440"/>
            <a:ext cx="278892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234440"/>
            <a:ext cx="2788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0800" y="1463040"/>
            <a:ext cx="685800" cy="685800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57276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2286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at Risk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263640" y="274320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data entry introduces errors. Our IDP-Invoice system delivers higher accuracy, processing hundreds of files within minutes.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077B6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IDP-Invoice processes hundreds of invoices in minutes with superior accuracy and zero fatigue.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IDP-Invoice: How It Works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64592" y="1371600"/>
            <a:ext cx="1353312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1371600"/>
            <a:ext cx="1353312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298448"/>
            <a:ext cx="310896" cy="3108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1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" y="199339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64592" y="23957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PDF/Excel/Text 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545336" y="2048256"/>
            <a:ext cx="1371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19842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682496" y="1371600"/>
            <a:ext cx="1353312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E9C46A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682496" y="1371600"/>
            <a:ext cx="1353312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88336" y="1298448"/>
            <a:ext cx="310896" cy="310896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88336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2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984" y="146304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82496" y="199339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682496" y="23957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063240" y="2048256"/>
            <a:ext cx="1371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118104" y="19842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200400" y="1371600"/>
            <a:ext cx="1353312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F9844A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200400" y="1371600"/>
            <a:ext cx="1353312" cy="45720"/>
          </a:xfrm>
          <a:prstGeom prst="rect">
            <a:avLst/>
          </a:prstGeom>
          <a:solidFill>
            <a:srgbClr val="F9844A"/>
          </a:solidFill>
          <a:ln w="12700">
            <a:solidFill>
              <a:srgbClr val="F9844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206240" y="1298448"/>
            <a:ext cx="310896" cy="310896"/>
          </a:xfrm>
          <a:prstGeom prst="ellipse">
            <a:avLst/>
          </a:prstGeom>
          <a:solidFill>
            <a:srgbClr val="F9844A"/>
          </a:solidFill>
          <a:ln w="12700">
            <a:solidFill>
              <a:srgbClr val="F9844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206240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3</a:t>
            </a:r>
            <a:endParaRPr lang="en-US" sz="10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888" y="146304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200400" y="199339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3200400" y="23957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if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7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581144" y="2048256"/>
            <a:ext cx="1371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636008" y="19842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718304" y="1371600"/>
            <a:ext cx="1353312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90E0EF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18304" y="1371600"/>
            <a:ext cx="1353312" cy="457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724144" y="1298448"/>
            <a:ext cx="310896" cy="310896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724144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4</a:t>
            </a:r>
            <a:endParaRPr lang="en-US" sz="10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792" y="1463040"/>
            <a:ext cx="457200" cy="4572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718304" y="199339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4718304" y="23957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6099048" y="2048256"/>
            <a:ext cx="1371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153912" y="19842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6236208" y="1371600"/>
            <a:ext cx="1353312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2DC653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6236208" y="1371600"/>
            <a:ext cx="1353312" cy="457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7242048" y="1298448"/>
            <a:ext cx="310896" cy="3108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242048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5</a:t>
            </a:r>
            <a:endParaRPr lang="en-US" sz="1000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1696" y="1463040"/>
            <a:ext cx="457200" cy="45720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6236208" y="199339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Store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6236208" y="23957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data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7616952" y="2048256"/>
            <a:ext cx="1371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671816" y="19842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7754112" y="1371600"/>
            <a:ext cx="1353312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2DC653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7754112" y="1371600"/>
            <a:ext cx="1353312" cy="457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8759952" y="1298448"/>
            <a:ext cx="310896" cy="3108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8759952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6</a:t>
            </a:r>
            <a:endParaRPr lang="en-US" sz="1000" dirty="0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1463040"/>
            <a:ext cx="457200" cy="45720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7754112" y="199339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API-Sync</a:t>
            </a:r>
            <a:endParaRPr lang="en-US" sz="1100" dirty="0"/>
          </a:p>
        </p:txBody>
      </p:sp>
      <p:sp>
        <p:nvSpPr>
          <p:cNvPr id="56" name="Text 48"/>
          <p:cNvSpPr/>
          <p:nvPr/>
        </p:nvSpPr>
        <p:spPr>
          <a:xfrm>
            <a:off x="7754112" y="23957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down stream systems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228600" y="3063240"/>
            <a:ext cx="86868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>
                <a:alpha val="50000"/>
              </a:srgbClr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411480" y="31272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Branching Logic</a:t>
            </a:r>
            <a:endParaRPr lang="en-US" sz="1400" dirty="0"/>
          </a:p>
        </p:txBody>
      </p:sp>
      <p:sp>
        <p:nvSpPr>
          <p:cNvPr id="59" name="Text 51"/>
          <p:cNvSpPr/>
          <p:nvPr/>
        </p:nvSpPr>
        <p:spPr>
          <a:xfrm>
            <a:off x="411480" y="3474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7</a:t>
            </a:r>
            <a:r>
              <a:rPr lang="en-US" sz="12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File skips pre-processing and goes directly to OCR extraction.</a:t>
            </a:r>
            <a:endParaRPr lang="en-US" sz="1200" dirty="0"/>
          </a:p>
        </p:txBody>
      </p:sp>
      <p:sp>
        <p:nvSpPr>
          <p:cNvPr id="60" name="Text 52"/>
          <p:cNvSpPr/>
          <p:nvPr/>
        </p:nvSpPr>
        <p:spPr>
          <a:xfrm>
            <a:off x="411480" y="37947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8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7</a:t>
            </a:r>
            <a:r>
              <a:rPr lang="en-US" sz="12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Deblurring &amp; image enhancement applied first, then OCR. File is flagged for HITL review.</a:t>
            </a:r>
            <a:endParaRPr lang="en-US" sz="1200" dirty="0"/>
          </a:p>
        </p:txBody>
      </p:sp>
      <p:sp>
        <p:nvSpPr>
          <p:cNvPr id="61" name="Text 53"/>
          <p:cNvSpPr/>
          <p:nvPr/>
        </p:nvSpPr>
        <p:spPr>
          <a:xfrm>
            <a:off x="411480" y="4114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8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Pre-processed files</a:t>
            </a:r>
            <a:r>
              <a:rPr lang="en-US" sz="12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always routed to Human-In-The-Loop (HITL) review regardless of other checks.</a:t>
            </a:r>
            <a:endParaRPr lang="en-US" sz="1200" dirty="0"/>
          </a:p>
        </p:txBody>
      </p:sp>
      <p:sp>
        <p:nvSpPr>
          <p:cNvPr id="62" name="Shape 54"/>
          <p:cNvSpPr/>
          <p:nvPr/>
        </p:nvSpPr>
        <p:spPr>
          <a:xfrm>
            <a:off x="228600" y="4462272"/>
            <a:ext cx="8686800" cy="45720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Flagging System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834640" cy="3703320"/>
          </a:xfrm>
          <a:prstGeom prst="rect">
            <a:avLst/>
          </a:prstGeom>
          <a:solidFill>
            <a:srgbClr val="162032"/>
          </a:solidFill>
          <a:ln w="12700">
            <a:solidFill>
              <a:srgbClr val="2DC653">
                <a:alpha val="7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283464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640080" cy="640080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8640" y="15087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8328" y="2176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Clean Invoice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38328" y="260604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number found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System-calculated total = OCR-extracted total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did NOT require pre-processing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directly to database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synced with downstream system either on request or on scheduled basis</a:t>
            </a: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to interact using chatbot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234440"/>
            <a:ext cx="2834640" cy="3703320"/>
          </a:xfrm>
          <a:prstGeom prst="rect">
            <a:avLst/>
          </a:prstGeom>
          <a:solidFill>
            <a:srgbClr val="162032"/>
          </a:solidFill>
          <a:ln w="12700">
            <a:solidFill>
              <a:srgbClr val="E63946">
                <a:alpha val="7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234440"/>
            <a:ext cx="283464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9000" y="1417320"/>
            <a:ext cx="640080" cy="640080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20440" y="15087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10128" y="2176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Error Flag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10128" y="260604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invoice number detected in the file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is immediately flagged as ERROR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for manual inspection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stored until validated by operator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corrupt records in database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72200" y="1234440"/>
            <a:ext cx="2834640" cy="3703320"/>
          </a:xfrm>
          <a:prstGeom prst="rect">
            <a:avLst/>
          </a:prstGeom>
          <a:solidFill>
            <a:srgbClr val="162032"/>
          </a:solidFill>
          <a:ln w="12700">
            <a:solidFill>
              <a:srgbClr val="E9C46A">
                <a:alpha val="7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234440"/>
            <a:ext cx="283464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0800" y="1417320"/>
            <a:ext cx="640080" cy="640080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92240" y="15087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81928" y="2176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HITL Flag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81928" y="260604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total ≠ OCR-extracted total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file went through pre-processing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triggered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corrects / confirms extracted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data then stored &amp; data synced with down stream systems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>
            <a:extLst>
              <a:ext uri="{FF2B5EF4-FFF2-40B4-BE49-F238E27FC236}">
                <a16:creationId xmlns:a16="http://schemas.microsoft.com/office/drawing/2014/main" id="{DA80EE4A-9B0C-ED4B-C251-CD3998C1C23A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73" name="Shape 1">
            <a:extLst>
              <a:ext uri="{FF2B5EF4-FFF2-40B4-BE49-F238E27FC236}">
                <a16:creationId xmlns:a16="http://schemas.microsoft.com/office/drawing/2014/main" id="{6B630E0B-456C-37E5-89EA-65E1EEECE17C}"/>
              </a:ext>
            </a:extLst>
          </p:cNvPr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4" name="Text 2">
            <a:extLst>
              <a:ext uri="{FF2B5EF4-FFF2-40B4-BE49-F238E27FC236}">
                <a16:creationId xmlns:a16="http://schemas.microsoft.com/office/drawing/2014/main" id="{7438A734-55C9-4414-C2AD-4C5B4D053BCE}"/>
              </a:ext>
            </a:extLst>
          </p:cNvPr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3200" dirty="0"/>
          </a:p>
        </p:txBody>
      </p:sp>
      <p:sp>
        <p:nvSpPr>
          <p:cNvPr id="75" name="Shape 3">
            <a:extLst>
              <a:ext uri="{FF2B5EF4-FFF2-40B4-BE49-F238E27FC236}">
                <a16:creationId xmlns:a16="http://schemas.microsoft.com/office/drawing/2014/main" id="{B1B8C13C-7AB1-BE50-EB1B-8FB28034DCC3}"/>
              </a:ext>
            </a:extLst>
          </p:cNvPr>
          <p:cNvSpPr/>
          <p:nvPr/>
        </p:nvSpPr>
        <p:spPr>
          <a:xfrm>
            <a:off x="3515541" y="2832898"/>
            <a:ext cx="1645920" cy="164592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6" name="Shape 4">
            <a:extLst>
              <a:ext uri="{FF2B5EF4-FFF2-40B4-BE49-F238E27FC236}">
                <a16:creationId xmlns:a16="http://schemas.microsoft.com/office/drawing/2014/main" id="{F0738C2D-4578-3B9A-CD98-D9345CC92940}"/>
              </a:ext>
            </a:extLst>
          </p:cNvPr>
          <p:cNvSpPr/>
          <p:nvPr/>
        </p:nvSpPr>
        <p:spPr>
          <a:xfrm>
            <a:off x="3699814" y="2991977"/>
            <a:ext cx="1316736" cy="131673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7" name="Image 0" descr="preencoded.png">
            <a:extLst>
              <a:ext uri="{FF2B5EF4-FFF2-40B4-BE49-F238E27FC236}">
                <a16:creationId xmlns:a16="http://schemas.microsoft.com/office/drawing/2014/main" id="{DFD7CEC6-D4A3-4530-7236-7CB44BC90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574" y="3174857"/>
            <a:ext cx="585216" cy="585216"/>
          </a:xfrm>
          <a:prstGeom prst="rect">
            <a:avLst/>
          </a:prstGeom>
        </p:spPr>
      </p:pic>
      <p:sp>
        <p:nvSpPr>
          <p:cNvPr id="78" name="Text 5">
            <a:extLst>
              <a:ext uri="{FF2B5EF4-FFF2-40B4-BE49-F238E27FC236}">
                <a16:creationId xmlns:a16="http://schemas.microsoft.com/office/drawing/2014/main" id="{779FCC70-923F-E05F-5FEE-FFC23FE33CBD}"/>
              </a:ext>
            </a:extLst>
          </p:cNvPr>
          <p:cNvSpPr/>
          <p:nvPr/>
        </p:nvSpPr>
        <p:spPr>
          <a:xfrm>
            <a:off x="3699814" y="3787505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IDP-Invoice</a:t>
            </a:r>
            <a:endParaRPr lang="en-US" sz="1000" dirty="0"/>
          </a:p>
        </p:txBody>
      </p:sp>
      <p:sp>
        <p:nvSpPr>
          <p:cNvPr id="79" name="Text 6">
            <a:extLst>
              <a:ext uri="{FF2B5EF4-FFF2-40B4-BE49-F238E27FC236}">
                <a16:creationId xmlns:a16="http://schemas.microsoft.com/office/drawing/2014/main" id="{F7610B0A-2A1C-E66C-0E36-FFD3D95EF5ED}"/>
              </a:ext>
            </a:extLst>
          </p:cNvPr>
          <p:cNvSpPr/>
          <p:nvPr/>
        </p:nvSpPr>
        <p:spPr>
          <a:xfrm>
            <a:off x="3699814" y="4034393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800" dirty="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4B07B9FB-64D6-F369-9D3D-1DA928E80211}"/>
              </a:ext>
            </a:extLst>
          </p:cNvPr>
          <p:cNvSpPr/>
          <p:nvPr/>
        </p:nvSpPr>
        <p:spPr>
          <a:xfrm flipH="1">
            <a:off x="4338501" y="2577158"/>
            <a:ext cx="0" cy="414819"/>
          </a:xfrm>
          <a:prstGeom prst="line">
            <a:avLst/>
          </a:prstGeom>
          <a:noFill/>
          <a:ln w="19050">
            <a:solidFill>
              <a:srgbClr val="00B4D8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1" name="Shape 8">
            <a:extLst>
              <a:ext uri="{FF2B5EF4-FFF2-40B4-BE49-F238E27FC236}">
                <a16:creationId xmlns:a16="http://schemas.microsoft.com/office/drawing/2014/main" id="{D0D43008-3F7F-C046-E0A8-72EA46E9C8EC}"/>
              </a:ext>
            </a:extLst>
          </p:cNvPr>
          <p:cNvSpPr/>
          <p:nvPr/>
        </p:nvSpPr>
        <p:spPr>
          <a:xfrm>
            <a:off x="3886910" y="1809424"/>
            <a:ext cx="841248" cy="841248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2" name="Shape 9">
            <a:extLst>
              <a:ext uri="{FF2B5EF4-FFF2-40B4-BE49-F238E27FC236}">
                <a16:creationId xmlns:a16="http://schemas.microsoft.com/office/drawing/2014/main" id="{01232DCE-A1F4-80CC-2B65-C15FDB5CFB73}"/>
              </a:ext>
            </a:extLst>
          </p:cNvPr>
          <p:cNvSpPr/>
          <p:nvPr/>
        </p:nvSpPr>
        <p:spPr>
          <a:xfrm>
            <a:off x="3955163" y="1871400"/>
            <a:ext cx="694944" cy="694944"/>
          </a:xfrm>
          <a:prstGeom prst="ellipse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3" name="Image 1" descr="preencoded.png">
            <a:extLst>
              <a:ext uri="{FF2B5EF4-FFF2-40B4-BE49-F238E27FC236}">
                <a16:creationId xmlns:a16="http://schemas.microsoft.com/office/drawing/2014/main" id="{CDF57242-2DB4-10A7-56E7-3E5344761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995" y="2072242"/>
            <a:ext cx="402336" cy="402336"/>
          </a:xfrm>
          <a:prstGeom prst="rect">
            <a:avLst/>
          </a:prstGeom>
        </p:spPr>
      </p:pic>
      <p:sp>
        <p:nvSpPr>
          <p:cNvPr id="84" name="Text 10">
            <a:extLst>
              <a:ext uri="{FF2B5EF4-FFF2-40B4-BE49-F238E27FC236}">
                <a16:creationId xmlns:a16="http://schemas.microsoft.com/office/drawing/2014/main" id="{3F041C53-9546-606E-E9E1-F862952E5A54}"/>
              </a:ext>
            </a:extLst>
          </p:cNvPr>
          <p:cNvSpPr/>
          <p:nvPr/>
        </p:nvSpPr>
        <p:spPr>
          <a:xfrm>
            <a:off x="3150600" y="1067781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</a:t>
            </a:r>
            <a:endParaRPr lang="en-US" sz="1600" dirty="0"/>
          </a:p>
        </p:txBody>
      </p:sp>
      <p:sp>
        <p:nvSpPr>
          <p:cNvPr id="85" name="Text 11">
            <a:extLst>
              <a:ext uri="{FF2B5EF4-FFF2-40B4-BE49-F238E27FC236}">
                <a16:creationId xmlns:a16="http://schemas.microsoft.com/office/drawing/2014/main" id="{EC04DC26-8B84-B04E-FA36-055D68D23C67}"/>
              </a:ext>
            </a:extLst>
          </p:cNvPr>
          <p:cNvSpPr/>
          <p:nvPr/>
        </p:nvSpPr>
        <p:spPr>
          <a:xfrm>
            <a:off x="3479059" y="12933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Processing</a:t>
            </a:r>
            <a:endParaRPr lang="en-US" sz="1200" dirty="0"/>
          </a:p>
        </p:txBody>
      </p:sp>
      <p:sp>
        <p:nvSpPr>
          <p:cNvPr id="86" name="Text 12">
            <a:extLst>
              <a:ext uri="{FF2B5EF4-FFF2-40B4-BE49-F238E27FC236}">
                <a16:creationId xmlns:a16="http://schemas.microsoft.com/office/drawing/2014/main" id="{1C63A4D0-6DBB-AB81-E63E-63FF98AB807D}"/>
              </a:ext>
            </a:extLst>
          </p:cNvPr>
          <p:cNvSpPr/>
          <p:nvPr/>
        </p:nvSpPr>
        <p:spPr>
          <a:xfrm>
            <a:off x="3479059" y="15127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invoices processed in minutes.</a:t>
            </a:r>
            <a:endParaRPr lang="en-US" sz="900" dirty="0"/>
          </a:p>
        </p:txBody>
      </p:sp>
      <p:sp>
        <p:nvSpPr>
          <p:cNvPr id="87" name="Shape 13">
            <a:extLst>
              <a:ext uri="{FF2B5EF4-FFF2-40B4-BE49-F238E27FC236}">
                <a16:creationId xmlns:a16="http://schemas.microsoft.com/office/drawing/2014/main" id="{00402581-2653-F0E1-BB3B-682DD2F29725}"/>
              </a:ext>
            </a:extLst>
          </p:cNvPr>
          <p:cNvSpPr/>
          <p:nvPr/>
        </p:nvSpPr>
        <p:spPr>
          <a:xfrm>
            <a:off x="2546371" y="2566344"/>
            <a:ext cx="1216830" cy="722014"/>
          </a:xfrm>
          <a:prstGeom prst="line">
            <a:avLst/>
          </a:prstGeom>
          <a:noFill/>
          <a:ln w="19050">
            <a:solidFill>
              <a:srgbClr val="A78BFA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8" name="Shape 14">
            <a:extLst>
              <a:ext uri="{FF2B5EF4-FFF2-40B4-BE49-F238E27FC236}">
                <a16:creationId xmlns:a16="http://schemas.microsoft.com/office/drawing/2014/main" id="{FFE8EF40-494F-6EBD-9D39-0FA5762ABFC6}"/>
              </a:ext>
            </a:extLst>
          </p:cNvPr>
          <p:cNvSpPr/>
          <p:nvPr/>
        </p:nvSpPr>
        <p:spPr>
          <a:xfrm>
            <a:off x="1778274" y="2026485"/>
            <a:ext cx="841248" cy="841248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466DD699-F337-695C-6756-1153D8062E52}"/>
              </a:ext>
            </a:extLst>
          </p:cNvPr>
          <p:cNvSpPr/>
          <p:nvPr/>
        </p:nvSpPr>
        <p:spPr>
          <a:xfrm>
            <a:off x="1851426" y="2099637"/>
            <a:ext cx="694944" cy="694944"/>
          </a:xfrm>
          <a:prstGeom prst="ellipse">
            <a:avLst/>
          </a:prstGeom>
          <a:solidFill>
            <a:srgbClr val="162032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90" name="Image 2" descr="preencoded.png">
            <a:extLst>
              <a:ext uri="{FF2B5EF4-FFF2-40B4-BE49-F238E27FC236}">
                <a16:creationId xmlns:a16="http://schemas.microsoft.com/office/drawing/2014/main" id="{EE3441B5-7E75-40B5-592D-97E96D171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7730" y="2245941"/>
            <a:ext cx="402336" cy="402336"/>
          </a:xfrm>
          <a:prstGeom prst="rect">
            <a:avLst/>
          </a:prstGeom>
        </p:spPr>
      </p:pic>
      <p:sp>
        <p:nvSpPr>
          <p:cNvPr id="91" name="Text 16">
            <a:extLst>
              <a:ext uri="{FF2B5EF4-FFF2-40B4-BE49-F238E27FC236}">
                <a16:creationId xmlns:a16="http://schemas.microsoft.com/office/drawing/2014/main" id="{9ABE8AF6-72DF-3DE3-ED59-50A2953A4757}"/>
              </a:ext>
            </a:extLst>
          </p:cNvPr>
          <p:cNvSpPr/>
          <p:nvPr/>
        </p:nvSpPr>
        <p:spPr>
          <a:xfrm>
            <a:off x="265885" y="1889325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600" dirty="0"/>
          </a:p>
        </p:txBody>
      </p:sp>
      <p:sp>
        <p:nvSpPr>
          <p:cNvPr id="92" name="Text 17">
            <a:extLst>
              <a:ext uri="{FF2B5EF4-FFF2-40B4-BE49-F238E27FC236}">
                <a16:creationId xmlns:a16="http://schemas.microsoft.com/office/drawing/2014/main" id="{B2B8E74C-2B00-BA4A-C845-965A3A3FE6EA}"/>
              </a:ext>
            </a:extLst>
          </p:cNvPr>
          <p:cNvSpPr/>
          <p:nvPr/>
        </p:nvSpPr>
        <p:spPr>
          <a:xfrm>
            <a:off x="313112" y="21214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93" name="Text 18">
            <a:extLst>
              <a:ext uri="{FF2B5EF4-FFF2-40B4-BE49-F238E27FC236}">
                <a16:creationId xmlns:a16="http://schemas.microsoft.com/office/drawing/2014/main" id="{9864AEEB-BB98-2CDE-C620-D4766A564262}"/>
              </a:ext>
            </a:extLst>
          </p:cNvPr>
          <p:cNvSpPr/>
          <p:nvPr/>
        </p:nvSpPr>
        <p:spPr>
          <a:xfrm>
            <a:off x="313112" y="23408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reduces manual workload through intelligent automation.</a:t>
            </a:r>
            <a:endParaRPr lang="en-US" sz="900" dirty="0"/>
          </a:p>
        </p:txBody>
      </p:sp>
      <p:sp>
        <p:nvSpPr>
          <p:cNvPr id="94" name="Shape 19">
            <a:extLst>
              <a:ext uri="{FF2B5EF4-FFF2-40B4-BE49-F238E27FC236}">
                <a16:creationId xmlns:a16="http://schemas.microsoft.com/office/drawing/2014/main" id="{B44B868D-2D40-BEAE-6FBB-6F8934DF2867}"/>
              </a:ext>
            </a:extLst>
          </p:cNvPr>
          <p:cNvSpPr/>
          <p:nvPr/>
        </p:nvSpPr>
        <p:spPr>
          <a:xfrm flipV="1">
            <a:off x="2585861" y="3873571"/>
            <a:ext cx="1113953" cy="405712"/>
          </a:xfrm>
          <a:prstGeom prst="line">
            <a:avLst/>
          </a:prstGeom>
          <a:noFill/>
          <a:ln w="19050">
            <a:solidFill>
              <a:srgbClr val="E9C46A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5" name="Shape 20">
            <a:extLst>
              <a:ext uri="{FF2B5EF4-FFF2-40B4-BE49-F238E27FC236}">
                <a16:creationId xmlns:a16="http://schemas.microsoft.com/office/drawing/2014/main" id="{08977FCD-B54D-AA43-090E-42C32D6AF4DD}"/>
              </a:ext>
            </a:extLst>
          </p:cNvPr>
          <p:cNvSpPr/>
          <p:nvPr/>
        </p:nvSpPr>
        <p:spPr>
          <a:xfrm>
            <a:off x="1774645" y="3909097"/>
            <a:ext cx="841248" cy="841248"/>
          </a:xfrm>
          <a:prstGeom prst="ellipse">
            <a:avLst/>
          </a:prstGeom>
          <a:solidFill>
            <a:srgbClr val="E9C46A">
              <a:alpha val="20000"/>
            </a:srgbClr>
          </a:solidFill>
          <a:ln w="12700">
            <a:solidFill>
              <a:srgbClr val="E9C46A">
                <a:alpha val="40000"/>
              </a:srgbClr>
            </a:solidFill>
            <a:prstDash val="solid"/>
          </a:ln>
        </p:spPr>
      </p:sp>
      <p:sp>
        <p:nvSpPr>
          <p:cNvPr id="96" name="Shape 21">
            <a:extLst>
              <a:ext uri="{FF2B5EF4-FFF2-40B4-BE49-F238E27FC236}">
                <a16:creationId xmlns:a16="http://schemas.microsoft.com/office/drawing/2014/main" id="{40CB6B64-246E-2E53-FA0F-54EAED44F447}"/>
              </a:ext>
            </a:extLst>
          </p:cNvPr>
          <p:cNvSpPr/>
          <p:nvPr/>
        </p:nvSpPr>
        <p:spPr>
          <a:xfrm>
            <a:off x="1847797" y="3982249"/>
            <a:ext cx="694944" cy="694944"/>
          </a:xfrm>
          <a:prstGeom prst="ellipse">
            <a:avLst/>
          </a:prstGeom>
          <a:solidFill>
            <a:srgbClr val="162032"/>
          </a:solidFill>
          <a:ln w="12700">
            <a:solidFill>
              <a:srgbClr val="E9C46A"/>
            </a:solidFill>
            <a:prstDash val="solid"/>
          </a:ln>
        </p:spPr>
      </p:sp>
      <p:pic>
        <p:nvPicPr>
          <p:cNvPr id="97" name="Image 3" descr="preencoded.png">
            <a:extLst>
              <a:ext uri="{FF2B5EF4-FFF2-40B4-BE49-F238E27FC236}">
                <a16:creationId xmlns:a16="http://schemas.microsoft.com/office/drawing/2014/main" id="{A8449C22-EC3F-B399-7339-1890FEDBBF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4101" y="4128553"/>
            <a:ext cx="402336" cy="402336"/>
          </a:xfrm>
          <a:prstGeom prst="rect">
            <a:avLst/>
          </a:prstGeom>
        </p:spPr>
      </p:pic>
      <p:sp>
        <p:nvSpPr>
          <p:cNvPr id="98" name="Text 22">
            <a:extLst>
              <a:ext uri="{FF2B5EF4-FFF2-40B4-BE49-F238E27FC236}">
                <a16:creationId xmlns:a16="http://schemas.microsoft.com/office/drawing/2014/main" id="{DF64CEE6-91E4-2ECD-AF94-BBAF9FD1EBBE}"/>
              </a:ext>
            </a:extLst>
          </p:cNvPr>
          <p:cNvSpPr/>
          <p:nvPr/>
        </p:nvSpPr>
        <p:spPr>
          <a:xfrm>
            <a:off x="265885" y="3918241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600" dirty="0"/>
          </a:p>
        </p:txBody>
      </p:sp>
      <p:sp>
        <p:nvSpPr>
          <p:cNvPr id="99" name="Text 23">
            <a:extLst>
              <a:ext uri="{FF2B5EF4-FFF2-40B4-BE49-F238E27FC236}">
                <a16:creationId xmlns:a16="http://schemas.microsoft.com/office/drawing/2014/main" id="{9125EAD2-9175-BF38-26DB-FE4AC0DF2E3F}"/>
              </a:ext>
            </a:extLst>
          </p:cNvPr>
          <p:cNvSpPr/>
          <p:nvPr/>
        </p:nvSpPr>
        <p:spPr>
          <a:xfrm>
            <a:off x="265885" y="4210849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200" dirty="0"/>
          </a:p>
        </p:txBody>
      </p:sp>
      <p:sp>
        <p:nvSpPr>
          <p:cNvPr id="100" name="Text 24">
            <a:extLst>
              <a:ext uri="{FF2B5EF4-FFF2-40B4-BE49-F238E27FC236}">
                <a16:creationId xmlns:a16="http://schemas.microsoft.com/office/drawing/2014/main" id="{46C592F3-5549-F4BF-ED0F-6B1503DADA6B}"/>
              </a:ext>
            </a:extLst>
          </p:cNvPr>
          <p:cNvSpPr/>
          <p:nvPr/>
        </p:nvSpPr>
        <p:spPr>
          <a:xfrm>
            <a:off x="265885" y="4430305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flagging routes only uncertain files to review.</a:t>
            </a:r>
            <a:endParaRPr lang="en-US" sz="900" dirty="0"/>
          </a:p>
        </p:txBody>
      </p:sp>
      <p:sp>
        <p:nvSpPr>
          <p:cNvPr id="101" name="Shape 25">
            <a:extLst>
              <a:ext uri="{FF2B5EF4-FFF2-40B4-BE49-F238E27FC236}">
                <a16:creationId xmlns:a16="http://schemas.microsoft.com/office/drawing/2014/main" id="{73071191-F48A-BC28-6F70-C8C4FCB3EF84}"/>
              </a:ext>
            </a:extLst>
          </p:cNvPr>
          <p:cNvSpPr/>
          <p:nvPr/>
        </p:nvSpPr>
        <p:spPr>
          <a:xfrm flipV="1">
            <a:off x="4953158" y="2577158"/>
            <a:ext cx="958018" cy="711200"/>
          </a:xfrm>
          <a:prstGeom prst="line">
            <a:avLst/>
          </a:prstGeom>
          <a:noFill/>
          <a:ln w="19050">
            <a:solidFill>
              <a:srgbClr val="2DC653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2" name="Shape 26">
            <a:extLst>
              <a:ext uri="{FF2B5EF4-FFF2-40B4-BE49-F238E27FC236}">
                <a16:creationId xmlns:a16="http://schemas.microsoft.com/office/drawing/2014/main" id="{B5B60D0D-0229-11E9-8832-AF8803683B8A}"/>
              </a:ext>
            </a:extLst>
          </p:cNvPr>
          <p:cNvSpPr/>
          <p:nvPr/>
        </p:nvSpPr>
        <p:spPr>
          <a:xfrm>
            <a:off x="5838024" y="2028880"/>
            <a:ext cx="841248" cy="841248"/>
          </a:xfrm>
          <a:prstGeom prst="ellipse">
            <a:avLst/>
          </a:prstGeom>
          <a:solidFill>
            <a:srgbClr val="2DC653">
              <a:alpha val="20000"/>
            </a:srgbClr>
          </a:solidFill>
          <a:ln w="12700">
            <a:solidFill>
              <a:srgbClr val="2DC653">
                <a:alpha val="40000"/>
              </a:srgbClr>
            </a:solidFill>
            <a:prstDash val="solid"/>
          </a:ln>
        </p:spPr>
      </p:sp>
      <p:sp>
        <p:nvSpPr>
          <p:cNvPr id="103" name="Shape 27">
            <a:extLst>
              <a:ext uri="{FF2B5EF4-FFF2-40B4-BE49-F238E27FC236}">
                <a16:creationId xmlns:a16="http://schemas.microsoft.com/office/drawing/2014/main" id="{669286E1-EFBD-79B5-A74D-66CA17D19A23}"/>
              </a:ext>
            </a:extLst>
          </p:cNvPr>
          <p:cNvSpPr/>
          <p:nvPr/>
        </p:nvSpPr>
        <p:spPr>
          <a:xfrm>
            <a:off x="5911176" y="2102032"/>
            <a:ext cx="694944" cy="694944"/>
          </a:xfrm>
          <a:prstGeom prst="ellipse">
            <a:avLst/>
          </a:prstGeom>
          <a:solidFill>
            <a:srgbClr val="162032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104" name="Image 4" descr="preencoded.png">
            <a:extLst>
              <a:ext uri="{FF2B5EF4-FFF2-40B4-BE49-F238E27FC236}">
                <a16:creationId xmlns:a16="http://schemas.microsoft.com/office/drawing/2014/main" id="{27BE828E-5E79-E26B-3DE8-41AA3673C9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7480" y="2248336"/>
            <a:ext cx="402336" cy="402336"/>
          </a:xfrm>
          <a:prstGeom prst="rect">
            <a:avLst/>
          </a:prstGeom>
        </p:spPr>
      </p:pic>
      <p:sp>
        <p:nvSpPr>
          <p:cNvPr id="105" name="Text 28">
            <a:extLst>
              <a:ext uri="{FF2B5EF4-FFF2-40B4-BE49-F238E27FC236}">
                <a16:creationId xmlns:a16="http://schemas.microsoft.com/office/drawing/2014/main" id="{5F519075-D85D-6560-140A-672697520C4E}"/>
              </a:ext>
            </a:extLst>
          </p:cNvPr>
          <p:cNvSpPr/>
          <p:nvPr/>
        </p:nvSpPr>
        <p:spPr>
          <a:xfrm>
            <a:off x="6770712" y="20380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106" name="Text 29">
            <a:extLst>
              <a:ext uri="{FF2B5EF4-FFF2-40B4-BE49-F238E27FC236}">
                <a16:creationId xmlns:a16="http://schemas.microsoft.com/office/drawing/2014/main" id="{D7D27767-D6A0-5DD9-F06F-01B578F149BA}"/>
              </a:ext>
            </a:extLst>
          </p:cNvPr>
          <p:cNvSpPr/>
          <p:nvPr/>
        </p:nvSpPr>
        <p:spPr>
          <a:xfrm>
            <a:off x="6770712" y="23306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07" name="Text 30">
            <a:extLst>
              <a:ext uri="{FF2B5EF4-FFF2-40B4-BE49-F238E27FC236}">
                <a16:creationId xmlns:a16="http://schemas.microsoft.com/office/drawing/2014/main" id="{8063C934-D9DF-5D02-48DC-8609BCA972A5}"/>
              </a:ext>
            </a:extLst>
          </p:cNvPr>
          <p:cNvSpPr/>
          <p:nvPr/>
        </p:nvSpPr>
        <p:spPr>
          <a:xfrm>
            <a:off x="6770712" y="25500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 ensures error-free storage.</a:t>
            </a:r>
            <a:endParaRPr lang="en-US" sz="900" dirty="0"/>
          </a:p>
        </p:txBody>
      </p:sp>
      <p:sp>
        <p:nvSpPr>
          <p:cNvPr id="108" name="Shape 31">
            <a:extLst>
              <a:ext uri="{FF2B5EF4-FFF2-40B4-BE49-F238E27FC236}">
                <a16:creationId xmlns:a16="http://schemas.microsoft.com/office/drawing/2014/main" id="{68A91288-F61F-50E2-2ABC-36B0652CB13C}"/>
              </a:ext>
            </a:extLst>
          </p:cNvPr>
          <p:cNvSpPr/>
          <p:nvPr/>
        </p:nvSpPr>
        <p:spPr>
          <a:xfrm>
            <a:off x="4953158" y="3909097"/>
            <a:ext cx="931240" cy="370186"/>
          </a:xfrm>
          <a:prstGeom prst="line">
            <a:avLst/>
          </a:prstGeom>
          <a:noFill/>
          <a:ln w="19050">
            <a:solidFill>
              <a:srgbClr val="F9844A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9" name="Shape 32">
            <a:extLst>
              <a:ext uri="{FF2B5EF4-FFF2-40B4-BE49-F238E27FC236}">
                <a16:creationId xmlns:a16="http://schemas.microsoft.com/office/drawing/2014/main" id="{19749D36-566E-6AD7-5EFE-84E27F4A8CCF}"/>
              </a:ext>
            </a:extLst>
          </p:cNvPr>
          <p:cNvSpPr/>
          <p:nvPr/>
        </p:nvSpPr>
        <p:spPr>
          <a:xfrm>
            <a:off x="5871685" y="3918241"/>
            <a:ext cx="841248" cy="841248"/>
          </a:xfrm>
          <a:prstGeom prst="ellipse">
            <a:avLst/>
          </a:prstGeom>
          <a:solidFill>
            <a:srgbClr val="F9844A">
              <a:alpha val="20000"/>
            </a:srgbClr>
          </a:solidFill>
          <a:ln w="12700">
            <a:solidFill>
              <a:srgbClr val="F9844A">
                <a:alpha val="40000"/>
              </a:srgbClr>
            </a:solidFill>
            <a:prstDash val="solid"/>
          </a:ln>
        </p:spPr>
      </p:sp>
      <p:sp>
        <p:nvSpPr>
          <p:cNvPr id="110" name="Shape 33">
            <a:extLst>
              <a:ext uri="{FF2B5EF4-FFF2-40B4-BE49-F238E27FC236}">
                <a16:creationId xmlns:a16="http://schemas.microsoft.com/office/drawing/2014/main" id="{B77CCA47-192C-0C53-5901-4B57859FBC9C}"/>
              </a:ext>
            </a:extLst>
          </p:cNvPr>
          <p:cNvSpPr/>
          <p:nvPr/>
        </p:nvSpPr>
        <p:spPr>
          <a:xfrm>
            <a:off x="5944837" y="3991393"/>
            <a:ext cx="694944" cy="694944"/>
          </a:xfrm>
          <a:prstGeom prst="ellipse">
            <a:avLst/>
          </a:prstGeom>
          <a:solidFill>
            <a:srgbClr val="162032"/>
          </a:solidFill>
          <a:ln w="12700">
            <a:solidFill>
              <a:srgbClr val="F9844A"/>
            </a:solidFill>
            <a:prstDash val="solid"/>
          </a:ln>
        </p:spPr>
      </p:sp>
      <p:pic>
        <p:nvPicPr>
          <p:cNvPr id="111" name="Image 5" descr="preencoded.png">
            <a:extLst>
              <a:ext uri="{FF2B5EF4-FFF2-40B4-BE49-F238E27FC236}">
                <a16:creationId xmlns:a16="http://schemas.microsoft.com/office/drawing/2014/main" id="{41FFFE2E-FC49-D8AE-21B0-A160CA3362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141" y="4137697"/>
            <a:ext cx="402336" cy="402336"/>
          </a:xfrm>
          <a:prstGeom prst="rect">
            <a:avLst/>
          </a:prstGeom>
        </p:spPr>
      </p:pic>
      <p:sp>
        <p:nvSpPr>
          <p:cNvPr id="112" name="Text 34">
            <a:extLst>
              <a:ext uri="{FF2B5EF4-FFF2-40B4-BE49-F238E27FC236}">
                <a16:creationId xmlns:a16="http://schemas.microsoft.com/office/drawing/2014/main" id="{0ADD8AA4-A1A5-0329-44DF-D7E5D457A90A}"/>
              </a:ext>
            </a:extLst>
          </p:cNvPr>
          <p:cNvSpPr/>
          <p:nvPr/>
        </p:nvSpPr>
        <p:spPr>
          <a:xfrm>
            <a:off x="6804373" y="3927385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98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113" name="Text 35">
            <a:extLst>
              <a:ext uri="{FF2B5EF4-FFF2-40B4-BE49-F238E27FC236}">
                <a16:creationId xmlns:a16="http://schemas.microsoft.com/office/drawing/2014/main" id="{EA597E79-60B7-E864-3D8A-F64DF85C983C}"/>
              </a:ext>
            </a:extLst>
          </p:cNvPr>
          <p:cNvSpPr/>
          <p:nvPr/>
        </p:nvSpPr>
        <p:spPr>
          <a:xfrm>
            <a:off x="6804373" y="4219993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Data Delivery</a:t>
            </a:r>
            <a:endParaRPr lang="en-US" sz="1200" dirty="0"/>
          </a:p>
        </p:txBody>
      </p:sp>
      <p:sp>
        <p:nvSpPr>
          <p:cNvPr id="114" name="Text 36">
            <a:extLst>
              <a:ext uri="{FF2B5EF4-FFF2-40B4-BE49-F238E27FC236}">
                <a16:creationId xmlns:a16="http://schemas.microsoft.com/office/drawing/2014/main" id="{6C93D92E-CAAC-F596-F4E9-F11E186C8C75}"/>
              </a:ext>
            </a:extLst>
          </p:cNvPr>
          <p:cNvSpPr/>
          <p:nvPr/>
        </p:nvSpPr>
        <p:spPr>
          <a:xfrm>
            <a:off x="6804373" y="4439449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data delivered on demand.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82880"/>
            <a:ext cx="2743200" cy="27432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IDP-Invoice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Invoice Processing, Every Time.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Upload any invoice image or PDF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 quality check → pre-process if needed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OCR extracts → model organizes → stored in database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Intelligent flagging: Error &amp; HITL for review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On-demand delivery of processed data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Manual Invoice Workflows into Intelligent Automation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671</Words>
  <Application>Microsoft Office PowerPoint</Application>
  <PresentationFormat>On-screen Show (16:9)</PresentationFormat>
  <Paragraphs>135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IDP-Invoice</dc:title>
  <dc:subject>PptxGenJS Presentation</dc:subject>
  <dc:creator>PptxGenJS</dc:creator>
  <cp:lastModifiedBy>Jagadeeshwar Reddy Koule</cp:lastModifiedBy>
  <cp:revision>4</cp:revision>
  <dcterms:created xsi:type="dcterms:W3CDTF">2026-04-21T06:22:04Z</dcterms:created>
  <dcterms:modified xsi:type="dcterms:W3CDTF">2026-04-21T07:25:51Z</dcterms:modified>
</cp:coreProperties>
</file>